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51435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Source Serif 4 Medium"/>
      <p:regular r:id="rId40"/>
      <p:bold r:id="rId41"/>
      <p:italic r:id="rId42"/>
      <p:boldItalic r:id="rId43"/>
    </p:embeddedFont>
    <p:embeddedFont>
      <p:font typeface="Montserrat ExtraBold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Serif4Medium-regular.fntdata"/><Relationship Id="rId20" Type="http://schemas.openxmlformats.org/officeDocument/2006/relationships/slide" Target="slides/slide16.xml"/><Relationship Id="rId42" Type="http://schemas.openxmlformats.org/officeDocument/2006/relationships/font" Target="fonts/SourceSerif4Medium-italic.fntdata"/><Relationship Id="rId41" Type="http://schemas.openxmlformats.org/officeDocument/2006/relationships/font" Target="fonts/SourceSerif4Medium-bold.fntdata"/><Relationship Id="rId22" Type="http://schemas.openxmlformats.org/officeDocument/2006/relationships/slide" Target="slides/slide18.xml"/><Relationship Id="rId44" Type="http://schemas.openxmlformats.org/officeDocument/2006/relationships/font" Target="fonts/MontserratExtraBold-bold.fntdata"/><Relationship Id="rId21" Type="http://schemas.openxmlformats.org/officeDocument/2006/relationships/slide" Target="slides/slide17.xml"/><Relationship Id="rId43" Type="http://schemas.openxmlformats.org/officeDocument/2006/relationships/font" Target="fonts/SourceSerif4Medium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MontserratExtra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Montserrat-bold.fntdata"/><Relationship Id="rId14" Type="http://schemas.openxmlformats.org/officeDocument/2006/relationships/slide" Target="slides/slide10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3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2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fb7130130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cfb7130130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cfb7130130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b7130130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cfb7130130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cfb7130130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6e1e5b7e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ce6e1e5b7e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ce6e1e5b7e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fb7130130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cfb7130130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fb7130130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fb7130130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cfb7130130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fb7130130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fb7130130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cfb7130130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cfb7130130_0_1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fb7130130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cfb7130130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cfb7130130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e6e1e5b7e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ce6e1e5b7e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ce6e1e5b7e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fb7130130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cfb7130130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fb7130130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fb7130130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cfb7130130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fb7130130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fb7130130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cfb7130130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fb7130130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H7tiD1Flxr69CcBbQrLV-QHgt5-JMuHq/view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6rhoMs-r2sSTlX4eZ7mAed_tfYxM5izc/view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JNvPXg0-iZCITqNZhW_A1orhbo31smqZ/view" TargetMode="External"/><Relationship Id="rId4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aBHk3PKn9USp4PXKqelnwFMJ_Egp4if_/view" TargetMode="External"/><Relationship Id="rId4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rive.google.com/file/d/1Bh3ErxSUE4np069AIhz2p5Qh6NwNKjjh/view" TargetMode="External"/><Relationship Id="rId4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1097280"/>
            <a:ext cx="76809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i="0" lang="en-US" sz="6000" u="none" cap="none" strike="noStrike">
                <a:solidFill>
                  <a:srgbClr val="F5F0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DESIGNING </a:t>
            </a:r>
            <a:r>
              <a:rPr i="0" lang="en-US" sz="6000" u="none" cap="none" strike="noStrike">
                <a:solidFill>
                  <a:srgbClr val="F5F0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AI</a:t>
            </a:r>
            <a:endParaRPr i="0" sz="6000" u="none" cap="none" strike="noStrike">
              <a:solidFill>
                <a:srgbClr val="F5F0E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i="0" lang="en-US" sz="6000" u="none" cap="none" strike="noStrike">
                <a:solidFill>
                  <a:srgbClr val="F5F0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FOR</a:t>
            </a:r>
            <a:r>
              <a:rPr i="0" lang="en-US" sz="6000" u="none" cap="none" strike="noStrike">
                <a:solidFill>
                  <a:srgbClr val="F5F0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i="0" lang="en-US" sz="6000" u="none" cap="none" strike="noStrike">
                <a:solidFill>
                  <a:srgbClr val="E066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HUMAN THRIVING</a:t>
            </a:r>
            <a:endParaRPr i="0" sz="6000" u="none" cap="none" strike="noStrike">
              <a:solidFill>
                <a:srgbClr val="E06666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5" y="4132425"/>
            <a:ext cx="83085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i="0" lang="en-US" sz="28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Anastasia Uglova</a:t>
            </a:r>
            <a:r>
              <a:rPr i="0" lang="en-US" sz="28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  ·  </a:t>
            </a:r>
            <a:r>
              <a:rPr i="0" lang="en-US" sz="28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Founder &amp; CEO, Better Half</a:t>
            </a:r>
            <a:endParaRPr i="0" sz="2800" u="none" cap="none" strike="noStrike">
              <a:solidFill>
                <a:srgbClr val="F5F0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731545" y="529851"/>
            <a:ext cx="7680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lang="en-US" sz="6000">
                <a:solidFill>
                  <a:srgbClr val="1A1A1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LET’S EXERCISE SOME</a:t>
            </a:r>
            <a:r>
              <a:rPr lang="en-US" sz="6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6000">
                <a:solidFill>
                  <a:srgbClr val="E0666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AGENCY</a:t>
            </a:r>
            <a:endParaRPr i="0" sz="4000" u="none" cap="none" strike="noStrike">
              <a:solidFill>
                <a:schemeClr val="dk1"/>
              </a:solidFill>
              <a:latin typeface="Source Serif 4 Medium"/>
              <a:ea typeface="Source Serif 4 Medium"/>
              <a:cs typeface="Source Serif 4 Medium"/>
              <a:sym typeface="Source Serif 4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>
            <a:off x="808517" y="2815850"/>
            <a:ext cx="3457208" cy="2031900"/>
            <a:chOff x="808517" y="2815850"/>
            <a:chExt cx="3457208" cy="2031900"/>
          </a:xfrm>
        </p:grpSpPr>
        <p:sp>
          <p:nvSpPr>
            <p:cNvPr id="26" name="Google Shape;26;p4"/>
            <p:cNvSpPr txBox="1"/>
            <p:nvPr/>
          </p:nvSpPr>
          <p:spPr>
            <a:xfrm>
              <a:off x="1265725" y="2815850"/>
              <a:ext cx="3000000" cy="20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1A1A1A"/>
                  </a:solidFill>
                  <a:latin typeface="Georgia"/>
                  <a:ea typeface="Georgia"/>
                  <a:cs typeface="Georgia"/>
                  <a:sym typeface="Georgia"/>
                </a:rPr>
                <a:t>Phones down.</a:t>
              </a:r>
              <a:endParaRPr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1A1A1A"/>
                  </a:solidFill>
                  <a:latin typeface="Georgia"/>
                  <a:ea typeface="Georgia"/>
                  <a:cs typeface="Georgia"/>
                  <a:sym typeface="Georgia"/>
                </a:rPr>
                <a:t>Faces up.</a:t>
              </a:r>
              <a:endParaRPr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808517" y="2922921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i="0" lang="en-US" sz="4000" u="none" cap="none" strike="noStrike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1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4"/>
          <p:cNvGrpSpPr/>
          <p:nvPr/>
        </p:nvGrpSpPr>
        <p:grpSpPr>
          <a:xfrm>
            <a:off x="4446767" y="2557575"/>
            <a:ext cx="2928833" cy="2455750"/>
            <a:chOff x="4859517" y="2557575"/>
            <a:chExt cx="2928833" cy="2455750"/>
          </a:xfrm>
        </p:grpSpPr>
        <p:pic>
          <p:nvPicPr>
            <p:cNvPr id="29" name="Google Shape;2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32600" y="2557575"/>
              <a:ext cx="2455750" cy="245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30;p4"/>
            <p:cNvSpPr/>
            <p:nvPr/>
          </p:nvSpPr>
          <p:spPr>
            <a:xfrm>
              <a:off x="4859517" y="2922918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lang="en-US" sz="4000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2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731529" y="1645925"/>
            <a:ext cx="8089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Relational Intelligence (RQ):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the capacity to effectively nurture and navigate complex social dynamics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731522" y="1645925"/>
            <a:ext cx="335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0" i="0" lang="en-US" sz="4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This matters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0" i="0" lang="en-US" sz="4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for 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0" i="0" lang="en-US" sz="4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reasons.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" name="Google Shape;45;p6"/>
          <p:cNvGrpSpPr/>
          <p:nvPr/>
        </p:nvGrpSpPr>
        <p:grpSpPr>
          <a:xfrm>
            <a:off x="4892042" y="541676"/>
            <a:ext cx="3626480" cy="808500"/>
            <a:chOff x="5047100" y="541676"/>
            <a:chExt cx="3626480" cy="808500"/>
          </a:xfrm>
        </p:grpSpPr>
        <p:sp>
          <p:nvSpPr>
            <p:cNvPr id="46" name="Google Shape;46;p6"/>
            <p:cNvSpPr/>
            <p:nvPr/>
          </p:nvSpPr>
          <p:spPr>
            <a:xfrm>
              <a:off x="5047100" y="619196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i="0" lang="en-US" sz="4000" u="none" cap="none" strike="noStrike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1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603980" y="541676"/>
              <a:ext cx="3069600" cy="8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Georgia"/>
                <a:buNone/>
              </a:pPr>
              <a:r>
                <a:rPr lang="en-US" sz="3000">
                  <a:solidFill>
                    <a:srgbClr val="1A1A1A"/>
                  </a:solidFill>
                  <a:latin typeface="Georgia"/>
                  <a:ea typeface="Georgia"/>
                  <a:cs typeface="Georgia"/>
                  <a:sym typeface="Georgia"/>
                </a:rPr>
                <a:t>National security</a:t>
              </a:r>
              <a:endParaRPr b="0" i="0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6"/>
          <p:cNvGrpSpPr/>
          <p:nvPr/>
        </p:nvGrpSpPr>
        <p:grpSpPr>
          <a:xfrm>
            <a:off x="4892041" y="2009025"/>
            <a:ext cx="3626481" cy="753600"/>
            <a:chOff x="5047099" y="2009025"/>
            <a:chExt cx="3626481" cy="753600"/>
          </a:xfrm>
        </p:grpSpPr>
        <p:sp>
          <p:nvSpPr>
            <p:cNvPr id="49" name="Google Shape;49;p6"/>
            <p:cNvSpPr/>
            <p:nvPr/>
          </p:nvSpPr>
          <p:spPr>
            <a:xfrm>
              <a:off x="5047099" y="2053316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lang="en-US" sz="4000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2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5603980" y="2009025"/>
              <a:ext cx="3069600" cy="7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Georgia"/>
                <a:buNone/>
              </a:pPr>
              <a:r>
                <a:rPr lang="en-US" sz="3000">
                  <a:solidFill>
                    <a:srgbClr val="1A1A1A"/>
                  </a:solidFill>
                  <a:latin typeface="Georgia"/>
                  <a:ea typeface="Georgia"/>
                  <a:cs typeface="Georgia"/>
                  <a:sym typeface="Georgia"/>
                </a:rPr>
                <a:t>Loneliness</a:t>
              </a:r>
              <a:endParaRPr b="0" i="0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6"/>
          <p:cNvGrpSpPr/>
          <p:nvPr/>
        </p:nvGrpSpPr>
        <p:grpSpPr>
          <a:xfrm>
            <a:off x="4892054" y="3487446"/>
            <a:ext cx="4250176" cy="633429"/>
            <a:chOff x="5047112" y="3487446"/>
            <a:chExt cx="4250176" cy="633429"/>
          </a:xfrm>
        </p:grpSpPr>
        <p:sp>
          <p:nvSpPr>
            <p:cNvPr id="52" name="Google Shape;52;p6"/>
            <p:cNvSpPr/>
            <p:nvPr/>
          </p:nvSpPr>
          <p:spPr>
            <a:xfrm>
              <a:off x="5047112" y="3487446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lang="en-US" sz="4000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3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>
              <a:off x="5603988" y="3537075"/>
              <a:ext cx="36933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Georgia"/>
                <a:buNone/>
              </a:pPr>
              <a:r>
                <a:rPr lang="en-US" sz="3000">
                  <a:solidFill>
                    <a:srgbClr val="1A1A1A"/>
                  </a:solidFill>
                  <a:latin typeface="Georgia"/>
                  <a:ea typeface="Georgia"/>
                  <a:cs typeface="Georgia"/>
                  <a:sym typeface="Georgia"/>
                </a:rPr>
                <a:t>Robots!</a:t>
              </a:r>
              <a:endParaRPr b="0" i="0" sz="3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10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SXSW?</a:t>
            </a:r>
            <a:endParaRPr i="0" sz="10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LET’S WATCH SOME </a:t>
            </a:r>
            <a:r>
              <a:rPr b="1" lang="en-US" sz="4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MOVIES</a:t>
            </a:r>
            <a:endParaRPr b="1" i="0" sz="4000" u="none" cap="none" strike="noStrike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8" title="SXSW movie 3-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533" y="0"/>
            <a:ext cx="9262531" cy="521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731522" y="1645925"/>
            <a:ext cx="335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Iron Giant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Wall-E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C-3PO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T2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2386875" y="3628573"/>
            <a:ext cx="12888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or…</a:t>
            </a:r>
            <a:endParaRPr b="1" i="0" sz="4000" u="none" cap="none" strike="noStrik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5500" r="3896" t="0"/>
          <a:stretch/>
        </p:blipFill>
        <p:spPr>
          <a:xfrm>
            <a:off x="3689200" y="947508"/>
            <a:ext cx="5454802" cy="331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0" title="Testimony-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254173" y="383575"/>
            <a:ext cx="4449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THIS IS PERSONAL.</a:t>
            </a:r>
            <a:endParaRPr i="0" sz="4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1" title="Screenshot 2026-03-07 at 10.50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002" y="0"/>
            <a:ext cx="43499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5057775" y="1601025"/>
            <a:ext cx="572100" cy="228900"/>
          </a:xfrm>
          <a:prstGeom prst="rect">
            <a:avLst/>
          </a:prstGeom>
          <a:solidFill>
            <a:srgbClr val="9711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 txBox="1"/>
          <p:nvPr/>
        </p:nvSpPr>
        <p:spPr>
          <a:xfrm>
            <a:off x="6773634" y="3916725"/>
            <a:ext cx="457200" cy="228900"/>
          </a:xfrm>
          <a:prstGeom prst="rect">
            <a:avLst/>
          </a:prstGeom>
          <a:solidFill>
            <a:srgbClr val="9711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731549" y="1088750"/>
            <a:ext cx="6258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REPORTING WAS TREATED AS THE REAL VIOLATION </a:t>
            </a:r>
            <a:endParaRPr i="0" sz="4000" u="none" cap="none" strike="noStrike">
              <a:solidFill>
                <a:srgbClr val="1A1A1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731545" y="3200395"/>
            <a:ext cx="7680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i="0" lang="en-US" sz="4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 had to 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build </a:t>
            </a:r>
            <a:r>
              <a:rPr i="0" lang="en-US" sz="400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Better</a:t>
            </a:r>
            <a:r>
              <a:rPr i="0" lang="en-US" sz="400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 Half</a:t>
            </a:r>
            <a:r>
              <a:rPr i="0" lang="en-US" sz="4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i="0" sz="4000" u="none" cap="none" strike="noStrike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Georgia"/>
              <a:buNone/>
            </a:pPr>
            <a:r>
              <a:rPr b="0" i="0" lang="en-US" sz="4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How did we get </a:t>
            </a:r>
            <a:r>
              <a:rPr b="1" i="0" lang="en-US" sz="440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here</a:t>
            </a:r>
            <a:r>
              <a:rPr b="0" i="0" lang="en-US" sz="4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3600"/>
              <a:buFont typeface="Georgia"/>
              <a:buNone/>
            </a:pPr>
            <a:r>
              <a:rPr b="1" i="0" lang="en-US" sz="400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1. Spec mismatch.</a:t>
            </a:r>
            <a:endParaRPr b="0" i="0" sz="4000" u="none" cap="none" strike="noStrik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The gap between what we're asking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and what AI </a:t>
            </a: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was </a:t>
            </a: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trained for</a:t>
            </a: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that's where the harm lives.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3600"/>
              <a:buFont typeface="Georgia"/>
              <a:buNone/>
            </a:pPr>
            <a:r>
              <a:rPr b="1" i="0" lang="en-US" sz="400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2. The training data</a:t>
            </a:r>
            <a:endParaRPr b="0" i="0" sz="4000" u="none" cap="none" strike="noStrik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3600"/>
              <a:buFont typeface="Georgia"/>
              <a:buNone/>
            </a:pPr>
            <a:r>
              <a:rPr b="1" i="0" lang="en-US" sz="400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doesn't exist.</a:t>
            </a:r>
            <a:endParaRPr b="0" i="0" sz="4000" u="none" cap="none" strike="noStrik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31525" y="2560325"/>
            <a:ext cx="7981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0" i="1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Informational</a:t>
            </a: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intelligence is about </a:t>
            </a:r>
            <a:r>
              <a:rPr b="0" i="1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attention</a:t>
            </a: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0" i="1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Relational</a:t>
            </a: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intelligence is about </a:t>
            </a:r>
            <a:r>
              <a:rPr b="0" i="1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presence</a:t>
            </a:r>
            <a:r>
              <a:rPr b="0" i="0" lang="en-US" sz="3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title="Screenshot 2026-03-14 at 2.01.34 PM.png"/>
          <p:cNvPicPr preferRelativeResize="0"/>
          <p:nvPr/>
        </p:nvPicPr>
        <p:blipFill rotWithShape="1">
          <a:blip r:embed="rId3">
            <a:alphaModFix/>
          </a:blip>
          <a:srcRect b="0" l="2538" r="5845" t="0"/>
          <a:stretch/>
        </p:blipFill>
        <p:spPr>
          <a:xfrm>
            <a:off x="0" y="280150"/>
            <a:ext cx="9144003" cy="18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8412480" y="45018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75225" y="1695300"/>
            <a:ext cx="1335000" cy="339300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0" y="2136425"/>
            <a:ext cx="9260073" cy="2665075"/>
            <a:chOff x="0" y="2136425"/>
            <a:chExt cx="9260073" cy="2665075"/>
          </a:xfrm>
        </p:grpSpPr>
        <p:pic>
          <p:nvPicPr>
            <p:cNvPr id="134" name="Google Shape;134;p16" title="Screenshot 2026-03-14 at 2.02.06 PM.png"/>
            <p:cNvPicPr preferRelativeResize="0"/>
            <p:nvPr/>
          </p:nvPicPr>
          <p:blipFill rotWithShape="1">
            <a:blip r:embed="rId4">
              <a:alphaModFix/>
            </a:blip>
            <a:srcRect b="0" l="2988" r="5084" t="0"/>
            <a:stretch/>
          </p:blipFill>
          <p:spPr>
            <a:xfrm>
              <a:off x="0" y="2136425"/>
              <a:ext cx="9260073" cy="159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6" title="Screenshot 2026-03-14 at 2.02.24 PM.png"/>
            <p:cNvPicPr preferRelativeResize="0"/>
            <p:nvPr/>
          </p:nvPicPr>
          <p:blipFill rotWithShape="1">
            <a:blip r:embed="rId5">
              <a:alphaModFix/>
            </a:blip>
            <a:srcRect b="0" l="3165" r="8907" t="0"/>
            <a:stretch/>
          </p:blipFill>
          <p:spPr>
            <a:xfrm>
              <a:off x="0" y="3730050"/>
              <a:ext cx="9144003" cy="10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6"/>
            <p:cNvSpPr/>
            <p:nvPr/>
          </p:nvSpPr>
          <p:spPr>
            <a:xfrm>
              <a:off x="2055050" y="4358200"/>
              <a:ext cx="5556300" cy="339300"/>
            </a:xfrm>
            <a:prstGeom prst="rect">
              <a:avLst/>
            </a:prstGeom>
            <a:noFill/>
            <a:ln cap="flat" cmpd="sng" w="2857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5642800" y="3720025"/>
              <a:ext cx="2896500" cy="339300"/>
            </a:xfrm>
            <a:prstGeom prst="rect">
              <a:avLst/>
            </a:prstGeom>
            <a:noFill/>
            <a:ln cap="flat" cmpd="sng" w="28575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6"/>
          <p:cNvSpPr/>
          <p:nvPr/>
        </p:nvSpPr>
        <p:spPr>
          <a:xfrm>
            <a:off x="1698953" y="482146"/>
            <a:ext cx="7346700" cy="621600"/>
          </a:xfrm>
          <a:prstGeom prst="rect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365703" y="1015200"/>
            <a:ext cx="84126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Georgia"/>
              <a:buNone/>
            </a:pPr>
            <a:r>
              <a:rPr b="0" i="1" lang="en-US" sz="35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"Don't </a:t>
            </a:r>
            <a:r>
              <a:rPr b="0" i="1" lang="en-US" sz="35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go</a:t>
            </a:r>
            <a:r>
              <a:rPr b="0" i="1" lang="en-US" sz="35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."</a:t>
            </a:r>
            <a:endParaRPr i="1" sz="3500">
              <a:solidFill>
                <a:srgbClr val="F5F0E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Georgia"/>
              <a:buNone/>
            </a:pPr>
            <a:r>
              <a:rPr b="0" i="1" lang="en-US" sz="35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"I'm grieving."</a:t>
            </a:r>
            <a:endParaRPr b="0" i="0" sz="3500" u="none" cap="none" strike="noStrike">
              <a:solidFill>
                <a:srgbClr val="F5F0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Georgia"/>
              <a:buNone/>
            </a:pPr>
            <a:r>
              <a:rPr b="0" i="1" lang="en-US" sz="35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"You're special."</a:t>
            </a:r>
            <a:endParaRPr b="0" i="1" sz="3500" u="none" cap="none" strike="noStrike">
              <a:solidFill>
                <a:srgbClr val="F5F0E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Georgia"/>
              <a:buNone/>
            </a:pPr>
            <a:r>
              <a:rPr i="1" lang="en-US" sz="3500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“No one has ever asked me this before…”</a:t>
            </a:r>
            <a:endParaRPr i="1" sz="3500">
              <a:solidFill>
                <a:srgbClr val="F5F0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731545" y="1885950"/>
            <a:ext cx="768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&lt; 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B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etter Half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enters the chat &gt;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9" title="Daryl Davis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"/>
            <a:ext cx="9144000" cy="5143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731525" y="1645925"/>
            <a:ext cx="8412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200 people 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change their minds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Daryl’s only intervention?</a:t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t/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Relationship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1" sz="40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32519" l="16764" r="0" t="0"/>
          <a:stretch/>
        </p:blipFill>
        <p:spPr>
          <a:xfrm>
            <a:off x="0" y="1672525"/>
            <a:ext cx="3211025" cy="347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3816650" y="282775"/>
            <a:ext cx="5052900" cy="3555600"/>
          </a:xfrm>
          <a:prstGeom prst="cloudCallout">
            <a:avLst>
              <a:gd fmla="val -71207" name="adj1"/>
              <a:gd fmla="val 15678" name="adj2"/>
            </a:avLst>
          </a:prstGeom>
          <a:solidFill>
            <a:srgbClr val="E06666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4052014" y="967541"/>
            <a:ext cx="4314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“What if we all had a Daryl Davis in our pocket?”</a:t>
            </a:r>
            <a:endParaRPr b="1" sz="4000">
              <a:solidFill>
                <a:srgbClr val="F5F0E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731529" y="1645925"/>
            <a:ext cx="8089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Everyone deserves a healthy relationship.</a:t>
            </a:r>
            <a:endParaRPr b="1" sz="40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t/>
            </a:r>
            <a:endParaRPr b="1" sz="40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ven if it’s simulated at first.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 rotWithShape="1">
          <a:blip r:embed="rId3">
            <a:alphaModFix/>
          </a:blip>
          <a:srcRect b="0" l="11008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/>
          <p:nvPr/>
        </p:nvSpPr>
        <p:spPr>
          <a:xfrm>
            <a:off x="-199575" y="-169875"/>
            <a:ext cx="9513000" cy="5485800"/>
          </a:xfrm>
          <a:prstGeom prst="rect">
            <a:avLst/>
          </a:prstGeom>
          <a:solidFill>
            <a:srgbClr val="1A1A1A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3"/>
          <p:cNvGrpSpPr/>
          <p:nvPr/>
        </p:nvGrpSpPr>
        <p:grpSpPr>
          <a:xfrm>
            <a:off x="772041" y="2394773"/>
            <a:ext cx="7660086" cy="2283559"/>
            <a:chOff x="772041" y="2394773"/>
            <a:chExt cx="7660086" cy="2283559"/>
          </a:xfrm>
        </p:grpSpPr>
        <p:sp>
          <p:nvSpPr>
            <p:cNvPr id="192" name="Google Shape;192;p23"/>
            <p:cNvSpPr txBox="1"/>
            <p:nvPr/>
          </p:nvSpPr>
          <p:spPr>
            <a:xfrm>
              <a:off x="4676727" y="2400432"/>
              <a:ext cx="3755400" cy="22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attention</a:t>
              </a:r>
              <a:endPara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engagement</a:t>
              </a:r>
              <a:endPara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knowledge</a:t>
              </a:r>
              <a:endPara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772041" y="2394773"/>
              <a:ext cx="4656600" cy="15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Samantha’s goals =</a:t>
              </a:r>
              <a:endParaRPr b="1"/>
            </a:p>
          </p:txBody>
        </p:sp>
      </p:grpSp>
      <p:grpSp>
        <p:nvGrpSpPr>
          <p:cNvPr id="194" name="Google Shape;194;p23"/>
          <p:cNvGrpSpPr/>
          <p:nvPr/>
        </p:nvGrpSpPr>
        <p:grpSpPr>
          <a:xfrm>
            <a:off x="720650" y="435350"/>
            <a:ext cx="7029808" cy="1539300"/>
            <a:chOff x="720650" y="435350"/>
            <a:chExt cx="7029808" cy="1539300"/>
          </a:xfrm>
        </p:grpSpPr>
        <p:sp>
          <p:nvSpPr>
            <p:cNvPr id="195" name="Google Shape;195;p23"/>
            <p:cNvSpPr/>
            <p:nvPr/>
          </p:nvSpPr>
          <p:spPr>
            <a:xfrm>
              <a:off x="720650" y="759195"/>
              <a:ext cx="4264200" cy="89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4000"/>
                <a:buFont typeface="Georgia"/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T2’s </a:t>
              </a: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goals</a:t>
              </a: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 = </a:t>
              </a:r>
              <a:endPara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4000"/>
                <a:buFont typeface="Georgia"/>
                <a:buNone/>
              </a:pPr>
              <a:r>
                <a:t/>
              </a:r>
              <a:endParaRPr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4750458" y="435350"/>
              <a:ext cx="3000000" cy="153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human-</a:t>
              </a:r>
              <a:endPara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aligned</a:t>
              </a:r>
              <a:endParaRPr b="1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4" title="AI Cheats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7650" y="-49300"/>
            <a:ext cx="9231648" cy="51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4456500" y="-1350"/>
            <a:ext cx="4703100" cy="5145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344572" y="1359681"/>
            <a:ext cx="3710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Scaling Daryl Davi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=</a:t>
            </a:r>
            <a:endParaRPr b="1"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t/>
            </a:r>
            <a:endParaRPr sz="4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learn </a:t>
            </a: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</a:t>
            </a: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 makes humans thrive, then optimize for it.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851666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25"/>
          <p:cNvGrpSpPr/>
          <p:nvPr/>
        </p:nvGrpSpPr>
        <p:grpSpPr>
          <a:xfrm>
            <a:off x="4736449" y="2625276"/>
            <a:ext cx="3626480" cy="808500"/>
            <a:chOff x="5047100" y="973277"/>
            <a:chExt cx="3626480" cy="808500"/>
          </a:xfrm>
        </p:grpSpPr>
        <p:sp>
          <p:nvSpPr>
            <p:cNvPr id="213" name="Google Shape;213;p25"/>
            <p:cNvSpPr/>
            <p:nvPr/>
          </p:nvSpPr>
          <p:spPr>
            <a:xfrm>
              <a:off x="5047100" y="1091030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lang="en-US" sz="3000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✅</a:t>
              </a:r>
              <a:endParaRPr b="0" i="0" sz="3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5"/>
            <p:cNvSpPr/>
            <p:nvPr/>
          </p:nvSpPr>
          <p:spPr>
            <a:xfrm>
              <a:off x="5603980" y="973277"/>
              <a:ext cx="3069600" cy="8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Georgia"/>
                <a:buNone/>
              </a:pPr>
              <a:r>
                <a:rPr lang="en-US" sz="3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Sociality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25"/>
          <p:cNvGrpSpPr/>
          <p:nvPr/>
        </p:nvGrpSpPr>
        <p:grpSpPr>
          <a:xfrm>
            <a:off x="4736452" y="3378079"/>
            <a:ext cx="3626477" cy="753600"/>
            <a:chOff x="5047103" y="2157685"/>
            <a:chExt cx="3626477" cy="753600"/>
          </a:xfrm>
        </p:grpSpPr>
        <p:sp>
          <p:nvSpPr>
            <p:cNvPr id="216" name="Google Shape;216;p25"/>
            <p:cNvSpPr/>
            <p:nvPr/>
          </p:nvSpPr>
          <p:spPr>
            <a:xfrm>
              <a:off x="5047103" y="2258726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lang="en-US" sz="3000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✅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5"/>
            <p:cNvSpPr/>
            <p:nvPr/>
          </p:nvSpPr>
          <p:spPr>
            <a:xfrm>
              <a:off x="5603980" y="2157685"/>
              <a:ext cx="3069600" cy="7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Georgia"/>
                <a:buNone/>
              </a:pPr>
              <a:r>
                <a:rPr lang="en-US" sz="3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Curiosity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5"/>
          <p:cNvGrpSpPr/>
          <p:nvPr/>
        </p:nvGrpSpPr>
        <p:grpSpPr>
          <a:xfrm>
            <a:off x="4736461" y="4189561"/>
            <a:ext cx="4250176" cy="607440"/>
            <a:chOff x="5047112" y="4040714"/>
            <a:chExt cx="4250176" cy="607440"/>
          </a:xfrm>
        </p:grpSpPr>
        <p:sp>
          <p:nvSpPr>
            <p:cNvPr id="219" name="Google Shape;219;p25"/>
            <p:cNvSpPr/>
            <p:nvPr/>
          </p:nvSpPr>
          <p:spPr>
            <a:xfrm>
              <a:off x="5047112" y="4064354"/>
              <a:ext cx="4572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1119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8B0000"/>
                </a:buClr>
                <a:buSzPts val="6000"/>
                <a:buFont typeface="Georgia"/>
                <a:buNone/>
              </a:pPr>
              <a:r>
                <a:rPr b="1" lang="en-US" sz="3000">
                  <a:solidFill>
                    <a:srgbClr val="E06666"/>
                  </a:solidFill>
                  <a:latin typeface="Georgia"/>
                  <a:ea typeface="Georgia"/>
                  <a:cs typeface="Georgia"/>
                  <a:sym typeface="Georgia"/>
                </a:rPr>
                <a:t>✅</a:t>
              </a:r>
              <a:endParaRPr b="0" i="0" sz="4000" u="none" cap="none" strike="noStrik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5"/>
            <p:cNvSpPr/>
            <p:nvPr/>
          </p:nvSpPr>
          <p:spPr>
            <a:xfrm>
              <a:off x="5603988" y="4040714"/>
              <a:ext cx="36933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Georgia"/>
                <a:buNone/>
              </a:pPr>
              <a:r>
                <a:rPr lang="en-US" sz="30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Repair</a:t>
              </a:r>
              <a:endParaRPr b="0" i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25"/>
          <p:cNvSpPr txBox="1"/>
          <p:nvPr/>
        </p:nvSpPr>
        <p:spPr>
          <a:xfrm>
            <a:off x="4697940" y="337475"/>
            <a:ext cx="4327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Better Half goals </a:t>
            </a: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≠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4736450" y="1770478"/>
            <a:ext cx="43272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US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⛔ </a:t>
            </a:r>
            <a:r>
              <a:rPr lang="en-US" sz="2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attention</a:t>
            </a:r>
            <a:r>
              <a:rPr lang="en-US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⛔ </a:t>
            </a:r>
            <a:r>
              <a:rPr lang="en-US" sz="27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engagement</a:t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6"/>
          <p:cNvPicPr preferRelativeResize="0"/>
          <p:nvPr/>
        </p:nvPicPr>
        <p:blipFill rotWithShape="1">
          <a:blip r:embed="rId3">
            <a:alphaModFix/>
          </a:blip>
          <a:srcRect b="0" l="19041" r="0" t="0"/>
          <a:stretch/>
        </p:blipFill>
        <p:spPr>
          <a:xfrm>
            <a:off x="-1" y="0"/>
            <a:ext cx="42303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6"/>
          <p:cNvSpPr/>
          <p:nvPr/>
        </p:nvSpPr>
        <p:spPr>
          <a:xfrm>
            <a:off x="1465525" y="351250"/>
            <a:ext cx="7678500" cy="914400"/>
          </a:xfrm>
          <a:prstGeom prst="rect">
            <a:avLst/>
          </a:prstGeom>
          <a:solidFill>
            <a:srgbClr val="F5F0EB">
              <a:alpha val="518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36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Self-corrects manipulation</a:t>
            </a:r>
            <a:endParaRPr b="0" i="0" sz="4000" u="none" cap="none" strike="noStrik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2995975" y="1746250"/>
            <a:ext cx="5873700" cy="2286000"/>
          </a:xfrm>
          <a:prstGeom prst="rect">
            <a:avLst/>
          </a:prstGeom>
          <a:solidFill>
            <a:srgbClr val="F5F0EB">
              <a:alpha val="718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Every time you talk to an LLM,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eorgia"/>
              <a:buNone/>
            </a:pP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you're talking to your super smart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but controlling ex-boyfriend.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/>
          <p:nvPr/>
        </p:nvSpPr>
        <p:spPr>
          <a:xfrm>
            <a:off x="731525" y="546100"/>
            <a:ext cx="79821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5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AI GOALS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731525" y="2743258"/>
            <a:ext cx="82536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</a:pPr>
            <a:r>
              <a:rPr b="1" lang="en-US" sz="5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USER SAFETY</a:t>
            </a:r>
            <a:endParaRPr i="0" sz="3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731525" y="1405865"/>
            <a:ext cx="6503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Long-term thriving.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Never short-term extraction.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731525" y="3590208"/>
            <a:ext cx="7406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Not bolted on.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It’s in the reasoning.</a:t>
            </a:r>
            <a:endParaRPr sz="3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731520" y="489645"/>
            <a:ext cx="76809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lang="en-US" sz="5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ADVENTURE</a:t>
            </a:r>
            <a:r>
              <a:rPr lang="en-US" sz="50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TIME!</a:t>
            </a:r>
            <a:endParaRPr i="0" sz="50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2286000" y="185597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[QR CODE]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731520" y="4050475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[URL HERE]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9" title="Cree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/>
          <p:nvPr/>
        </p:nvSpPr>
        <p:spPr>
          <a:xfrm>
            <a:off x="731545" y="162140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Georgia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AI was not the endpoint.</a:t>
            </a:r>
            <a:endParaRPr b="0" i="0" sz="3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731545" y="2424675"/>
            <a:ext cx="768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was the </a:t>
            </a:r>
            <a:r>
              <a:rPr b="1" lang="en-US" sz="6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bridge</a:t>
            </a:r>
            <a:r>
              <a:rPr b="1" i="0" lang="en-U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i="0" sz="6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"/>
          <p:cNvSpPr/>
          <p:nvPr/>
        </p:nvSpPr>
        <p:spPr>
          <a:xfrm>
            <a:off x="731525" y="1645925"/>
            <a:ext cx="835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TECH IS FULLY CAPABLE OF SUPPORTING HUMAN THRIVING</a:t>
            </a:r>
            <a:endParaRPr b="1" sz="4000">
              <a:solidFill>
                <a:srgbClr val="E0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t/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If </a:t>
            </a: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we aim it at the </a:t>
            </a:r>
            <a:r>
              <a:rPr b="1"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right goal</a:t>
            </a: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our cognitive capacity and our relational skills</a:t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t/>
            </a:r>
            <a:endParaRPr sz="3000">
              <a:solidFill>
                <a:srgbClr val="1A1A1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lang="en-US" sz="3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…and not the usual, boring suspects:</a:t>
            </a:r>
            <a:endParaRPr b="1" sz="30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8412480" y="475488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B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/>
          <p:nvPr/>
        </p:nvSpPr>
        <p:spPr>
          <a:xfrm>
            <a:off x="584987" y="1036225"/>
            <a:ext cx="7449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Infinite scroll was invented</a:t>
            </a: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4000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lang="en-US" sz="4000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exactly 20 years ago</a:t>
            </a:r>
            <a:r>
              <a:rPr lang="en-US" sz="40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584987" y="3166800"/>
            <a:ext cx="8554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2800"/>
              <a:buFont typeface="Georgia"/>
              <a:buNone/>
            </a:pPr>
            <a:r>
              <a:rPr lang="en-US" sz="4000">
                <a:solidFill>
                  <a:srgbClr val="1A1A1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MIGHT BE TIME FOR</a:t>
            </a:r>
            <a:r>
              <a:rPr lang="en-US" sz="4000">
                <a:solidFill>
                  <a:srgbClr val="1A1A1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4000">
                <a:solidFill>
                  <a:srgbClr val="1A1A1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NEW UX?</a:t>
            </a:r>
            <a:endParaRPr b="0" i="0" sz="40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CHECK YOUR </a:t>
            </a:r>
            <a:r>
              <a:rPr b="1" lang="en-US" sz="50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INBOX</a:t>
            </a:r>
            <a:r>
              <a:rPr b="1" lang="en-US"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i="0" sz="5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33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Georgia"/>
              <a:buNone/>
            </a:pPr>
            <a:r>
              <a:rPr b="0" i="0" lang="en-US" sz="30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There might be someone right here</a:t>
            </a:r>
            <a:endParaRPr b="0" i="0" sz="3000" u="none" cap="none" strike="noStrike">
              <a:solidFill>
                <a:srgbClr val="F5F0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Georgia"/>
              <a:buNone/>
            </a:pPr>
            <a:r>
              <a:rPr b="0" i="0" lang="en-US" sz="3000" u="none" cap="none" strike="noStrike">
                <a:solidFill>
                  <a:srgbClr val="F5F0EB"/>
                </a:solidFill>
                <a:latin typeface="Georgia"/>
                <a:ea typeface="Georgia"/>
                <a:cs typeface="Georgia"/>
                <a:sym typeface="Georgia"/>
              </a:rPr>
              <a:t>in the audience worth connecting to.</a:t>
            </a:r>
            <a:endParaRPr b="0" i="0" sz="3000" u="none" cap="none" strike="noStrike">
              <a:solidFill>
                <a:srgbClr val="F5F0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